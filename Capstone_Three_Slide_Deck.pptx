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PreviousPurchases</c:v>
                  </c:pt>
                  <c:pt idx="1">
                    <c:v>LoyaltyPoints</c:v>
                  </c:pt>
                  <c:pt idx="2">
                    <c:v>EmailOpens</c:v>
                  </c:pt>
                  <c:pt idx="3">
                    <c:v>AdSpend</c:v>
                  </c:pt>
                  <c:pt idx="4">
                    <c:v>EmailClicks</c:v>
                  </c:pt>
                  <c:pt idx="5">
                    <c:v>TimeOnSite</c:v>
                  </c:pt>
                  <c:pt idx="6">
                    <c:v>ClickThroughRate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0.361701</c:v>
                </c:pt>
                <c:pt idx="1">
                  <c:v>0.364736</c:v>
                </c:pt>
                <c:pt idx="2">
                  <c:v>0.381409</c:v>
                </c:pt>
                <c:pt idx="3">
                  <c:v>0.384415</c:v>
                </c:pt>
                <c:pt idx="4">
                  <c:v>0.415597</c:v>
                </c:pt>
                <c:pt idx="5">
                  <c:v>0.437125</c:v>
                </c:pt>
                <c:pt idx="6">
                  <c:v>0.450161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5610</c:v>
                </c:pt>
                <c:pt idx="1">
                  <c:v>5610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0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790</c:v>
                </c:pt>
                <c:pt idx="1">
                  <c:v>5610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 Reg
(weighted)</c:v>
                  </c:pt>
                  <c:pt idx="1">
                    <c:v>Log Reg
(SMOTE)</c:v>
                  </c:pt>
                  <c:pt idx="2">
                    <c:v>Gradient
Boosting</c:v>
                  </c:pt>
                  <c:pt idx="3">
                    <c:v>SVM
(RBF)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0.783</c:v>
                </c:pt>
                <c:pt idx="1">
                  <c:v>0.78</c:v>
                </c:pt>
                <c:pt idx="2">
                  <c:v>0.789</c:v>
                </c:pt>
                <c:pt idx="3">
                  <c:v>0.726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Class-0 F1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 Reg
(weighted)</c:v>
                  </c:pt>
                  <c:pt idx="1">
                    <c:v>Log Reg
(SMOTE)</c:v>
                  </c:pt>
                  <c:pt idx="2">
                    <c:v>Gradient
Boosting</c:v>
                  </c:pt>
                  <c:pt idx="3">
                    <c:v>SVM
(RBF)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0.42</c:v>
                </c:pt>
                <c:pt idx="1">
                  <c:v>0.43</c:v>
                </c:pt>
                <c:pt idx="2">
                  <c:v>0.52</c:v>
                </c:pt>
                <c:pt idx="3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Conversion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Digital Marketing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Three — Springboard Data Science Career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Lange   |   July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2011680" cy="201168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206240"/>
            <a:ext cx="1188720" cy="1188720"/>
          </a:xfrm>
          <a:prstGeom prst="ellipse">
            <a:avLst/>
          </a:prstGeom>
          <a:solidFill>
            <a:srgbClr val="2733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likely to convert — and what actually drives it?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budgets face constant ROI scrutiny — a large share of spend goes to customers who were never likely to convert.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conversion from customer profile and campaign data, and surfaces the levers marketers can pull.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skews ~88% positive, making non-converters the minority — and the harder, more valuable class to catch.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Predict Conversion in Digital Marketing (Rabie El Kharoua)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38328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demographics,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engagement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21792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(heavy imbalance)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05256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or duplicates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D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worth flagging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synthetic. AdvertisingPlatform and AdvertisingTool were fully redacted and dropped. Some behavioral fields show internal inconsistencies (e.g., 0 website visits paired with a nonzero pages-per-visit) that can't occur in real traffic — a reminder that model results here won't generalize automatically to live campaign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Conversion?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 coefficients — top engagement signals dominate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0" y="237744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behavior — clicks, time on site, email interaction — outpredicts demographics and campaign channel. Customers who've already shown interest are the best conversion bets.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EDA signal that engagement metrics matter most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192024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pre-purchase engagement measure — showed one of the strongest correlations with Conversion of any feature, engineered or original.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ClickToOpenRatio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301752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clicks relative to opens — a quality-of-engagement signal, not just raw volume.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EngagementPerVisit / AdSpendPerClick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41148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engagement and spend-efficiency measures.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212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AgeGroup (binned)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52120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re-cast as a categorical rather than continuous — age effects tend to be groupwise, not linear.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 compared head-to-head on the logistic regression baseline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resampling (training set)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8288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vs. SMOTE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92240" y="25146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 </a:t>
            </a:r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ROC-AUC 0.783
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 </a:t>
            </a:r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ROC-AUC 0.780
</a:t>
            </a:r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results — the model had largely exhausted what resampling alone could offer. Threshold tuning (0.70 crossover on the PR curve) moved the needle more, lifting accuracy from 0.76 to 0.86.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led on every key metric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916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9536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9536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0.789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0.89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Class-0 F1 0.52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4663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SMOTE-balanced data. Best at catching non-converters — the harder, more valuable class.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Modest, Honest Win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beat the simplest baseline by only ~0.006 ROC-AUC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3931920"/>
          </a:xfrm>
          <a:prstGeom prst="roundRect">
            <a:avLst>
              <a:gd name="adj" fmla="val 2326"/>
            </a:avLst>
          </a:prstGeom>
          <a:solidFill>
            <a:srgbClr val="27337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231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4231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already showed weak correlations between most features and the target — no amount of resampling or model complexity manufactures signal that isn't in the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2918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dataset's heavy 88/12 imbalance, these results sit in line with public benchmarks on this same dataset.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160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ConversionRate and ClickThroughRate carry some leakage risk as near-deterministic proxies for the target and should be handled more conservatively in future iterations.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029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synthetic — generalization to a live campaign dataset is unproven.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observed behavior over demographic or channel segmentation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 signals — click-through rate, time on site, email interaction, and prior purchase history — are far more predictive of conversion than demographics or campaign channel.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 / LightGBM with proper hyperparameter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SHAP-based feature attribution for stakeholder-facing explanations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Cost-sensitive thresholding tied to real marketing spend per customer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2026-07-15T05:50:16Z</dcterms:created>
  <dcterms:modified xsi:type="dcterms:W3CDTF">2026-07-15T05:50:16Z</dcterms:modified>
</cp:coreProperties>
</file>