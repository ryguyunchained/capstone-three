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Coefficient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PreviousPurchases</c:v>
                  </c:pt>
                  <c:pt idx="1">
                    <c:v>LoyaltyPoints</c:v>
                  </c:pt>
                  <c:pt idx="2">
                    <c:v>EmailOpens</c:v>
                  </c:pt>
                  <c:pt idx="3">
                    <c:v>AdSpend</c:v>
                  </c:pt>
                  <c:pt idx="4">
                    <c:v>EmailClicks</c:v>
                  </c:pt>
                  <c:pt idx="5">
                    <c:v>TimeOnSite</c:v>
                  </c:pt>
                  <c:pt idx="6">
                    <c:v>ClickThroughRate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0.361701</c:v>
                </c:pt>
                <c:pt idx="1">
                  <c:v>0.364736</c:v>
                </c:pt>
                <c:pt idx="2">
                  <c:v>0.381409</c:v>
                </c:pt>
                <c:pt idx="3">
                  <c:v>0.384415</c:v>
                </c:pt>
                <c:pt idx="4">
                  <c:v>0.415597</c:v>
                </c:pt>
                <c:pt idx="5">
                  <c:v>0.437125</c:v>
                </c:pt>
                <c:pt idx="6">
                  <c:v>0.450161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E276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5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Class 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Before</c:v>
                  </c:pt>
                  <c:pt idx="1">
                    <c:v>After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5610</c:v>
                </c:pt>
                <c:pt idx="1">
                  <c:v>5610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Class 0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Before</c:v>
                  </c:pt>
                  <c:pt idx="1">
                    <c:v>After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790</c:v>
                </c:pt>
                <c:pt idx="1">
                  <c:v>5610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76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785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Log Reg
(weighted)</c:v>
                  </c:pt>
                  <c:pt idx="1">
                    <c:v>Log Reg
(SMOTE)</c:v>
                  </c:pt>
                  <c:pt idx="2">
                    <c:v>Gradient
Boosting</c:v>
                  </c:pt>
                  <c:pt idx="3">
                    <c:v>SVM
(RBF)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0.783</c:v>
                </c:pt>
                <c:pt idx="1">
                  <c:v>0.78</c:v>
                </c:pt>
                <c:pt idx="2">
                  <c:v>0.789</c:v>
                </c:pt>
                <c:pt idx="3">
                  <c:v>0.726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Class-0 F1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Log Reg
(weighted)</c:v>
                  </c:pt>
                  <c:pt idx="1">
                    <c:v>Log Reg
(SMOTE)</c:v>
                  </c:pt>
                  <c:pt idx="2">
                    <c:v>Gradient
Boosting</c:v>
                  </c:pt>
                  <c:pt idx="3">
                    <c:v>SVM
(RBF)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0.42</c:v>
                </c:pt>
                <c:pt idx="1">
                  <c:v>0.43</c:v>
                </c:pt>
                <c:pt idx="2">
                  <c:v>0.52</c:v>
                </c:pt>
                <c:pt idx="3">
                  <c:v>0.4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76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76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785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Customer Conversion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Digital Marketing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566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Three — Springboard Data Science Career Track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692640" y="822960"/>
            <a:ext cx="2011680" cy="201168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206240"/>
            <a:ext cx="1188720" cy="1188720"/>
          </a:xfrm>
          <a:prstGeom prst="ellipse">
            <a:avLst/>
          </a:prstGeom>
          <a:solidFill>
            <a:srgbClr val="27337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customers are likely to convert — and what actually drives it?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474720" cy="4023360"/>
          </a:xfrm>
          <a:prstGeom prst="roundRect">
            <a:avLst>
              <a:gd name="adj" fmla="val 3158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3774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611880"/>
            <a:ext cx="2926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budgets face constant ROI scrutiny — a large share of spend goes to customers who were never likely to convert.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2011680"/>
            <a:ext cx="3474720" cy="4023360"/>
          </a:xfrm>
          <a:prstGeom prst="roundRect">
            <a:avLst>
              <a:gd name="adj" fmla="val 3158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23774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72000" y="31089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72000" y="3611880"/>
            <a:ext cx="2926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predicts conversion from customer profile and campaign data, and surfaces the levers marketers can pull.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2011680"/>
            <a:ext cx="3474720" cy="4023360"/>
          </a:xfrm>
          <a:prstGeom prst="roundRect">
            <a:avLst>
              <a:gd name="adj" fmla="val 3158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21040" y="23774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321040" y="31089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21040" y="3611880"/>
            <a:ext cx="2926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skews ~88% positive, making non-converters the minority — and the harder, more valuable class to catch.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Dataset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— Predict Conversion in Digital Marketing (Rabie El Kharoua)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2651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8,000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29718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records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383280" y="2011680"/>
            <a:ext cx="2651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3383280" y="29718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columns: demographics,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&amp; engagement data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17920" y="2011680"/>
            <a:ext cx="2651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88%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6217920" y="29718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class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(heavy imbalance)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052560" y="2011680"/>
            <a:ext cx="2651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9052560" y="29718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nulls or duplicates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114800"/>
            <a:ext cx="11064240" cy="2011680"/>
          </a:xfrm>
          <a:prstGeom prst="roundRect">
            <a:avLst>
              <a:gd name="adj" fmla="val 4545"/>
            </a:avLst>
          </a:prstGeom>
          <a:solidFill>
            <a:srgbClr val="FDEEE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297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 worth flagging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4709160"/>
            <a:ext cx="10332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is synthetic. AdvertisingPlatform and AdvertisingTool were fully redacted and dropped. Some behavioral fields show internal inconsistencies (e.g., 0 website visits paired with a nonzero pages-per-visit) that can't occur in real traffic — a reminder that model results here won't generalize automatically to live campaign data.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Predicts Conversion?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logistic regression coefficients — top engagement signals dominate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731520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138160" y="1691640"/>
            <a:ext cx="3474720" cy="4572000"/>
          </a:xfrm>
          <a:prstGeom prst="roundRect">
            <a:avLst>
              <a:gd name="adj" fmla="val 2632"/>
            </a:avLst>
          </a:prstGeom>
          <a:solidFill>
            <a:srgbClr val="F4F6FC"/>
          </a:solidFill>
          <a:ln/>
        </p:spPr>
      </p:sp>
      <p:sp>
        <p:nvSpPr>
          <p:cNvPr id="6" name="Text 3"/>
          <p:cNvSpPr/>
          <p:nvPr/>
        </p:nvSpPr>
        <p:spPr>
          <a:xfrm>
            <a:off x="8412480" y="19202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412480" y="2377440"/>
            <a:ext cx="292608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behavior — clicks, time on site, email interaction — outpredicts demographics and campaign channel. Customers who've already shown interest are the best conversion bets.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Engineering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the EDA signal that engagement metrics matter most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0116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43000" y="192024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EngagementScore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303520" y="192024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pre-purchase engagement measure — showed one of the strongest correlations with Conversion of any feature, engineered or original.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10896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1089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43000" y="301752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ClickToOpenRatio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303520" y="301752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clicks relative to opens — a quality-of-engagement signal, not just raw volume.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20624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206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43000" y="411480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EngagementPerVisit / AdSpendPerClick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303520" y="411480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Normalized engagement and spend-efficiency measures.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30352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3035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43000" y="521208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AgeGroup (binned)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303520" y="52120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re-cast as a categorical rather than continuous — age effects tend to be groupwise, not linear.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Handling Class Imbalance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approaches compared head-to-head on the logistic regression baseline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 resampling (training set)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94560"/>
          <a:ext cx="52120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217920" y="1828800"/>
            <a:ext cx="5394960" cy="4480560"/>
          </a:xfrm>
          <a:prstGeom prst="roundRect">
            <a:avLst>
              <a:gd name="adj" fmla="val 2041"/>
            </a:avLst>
          </a:prstGeom>
          <a:solidFill>
            <a:srgbClr val="F4F6FC"/>
          </a:solidFill>
          <a:ln/>
        </p:spPr>
      </p:sp>
      <p:sp>
        <p:nvSpPr>
          <p:cNvPr id="7" name="Text 4"/>
          <p:cNvSpPr/>
          <p:nvPr/>
        </p:nvSpPr>
        <p:spPr>
          <a:xfrm>
            <a:off x="6492240" y="20574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weighting vs. SMOTE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492240" y="2514600"/>
            <a:ext cx="48463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class_weight='balanced'  </a:t>
            </a:r>
            <a:pPr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ROC-AUC 0.783
</a:t>
            </a:r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 oversampling  </a:t>
            </a:r>
            <a:pPr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ROC-AUC 0.780
</a:t>
            </a:r>
            <a:pPr indent="0" marL="0">
              <a:buNone/>
            </a:pPr>
            <a:r>
              <a:rPr lang="en-US" sz="13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identical results — the model had largely exhausted what resampling alone could offer. Threshold tuning (0.70 crossover on the PR curve) moved the needle more, lifting accuracy from 0.76 to 0.86.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Comparison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 led on every key metric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74980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321040" y="1691640"/>
            <a:ext cx="3291840" cy="4572000"/>
          </a:xfrm>
          <a:prstGeom prst="roundRect">
            <a:avLst>
              <a:gd name="adj" fmla="val 2778"/>
            </a:avLst>
          </a:prstGeom>
          <a:solidFill>
            <a:srgbClr val="1E2761"/>
          </a:solidFill>
          <a:ln/>
        </p:spPr>
      </p:sp>
      <p:sp>
        <p:nvSpPr>
          <p:cNvPr id="6" name="Text 3"/>
          <p:cNvSpPr/>
          <p:nvPr/>
        </p:nvSpPr>
        <p:spPr>
          <a:xfrm>
            <a:off x="8595360" y="19202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595360" y="233172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Boosting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8595360" y="33832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0.789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0.89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Class-0 F1 0.52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595360" y="466344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SMOTE-balanced data. Best at catching non-converters — the harder, more valuable class.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Modest, Honest Win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model beat the simplest baseline by only ~0.006 ROC-AUC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2194560"/>
            <a:ext cx="10698480" cy="3931920"/>
          </a:xfrm>
          <a:prstGeom prst="roundRect">
            <a:avLst>
              <a:gd name="adj" fmla="val 2326"/>
            </a:avLst>
          </a:prstGeom>
          <a:solidFill>
            <a:srgbClr val="27337A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423160"/>
            <a:ext cx="365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242316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already showed weak correlations between most features and the target — no amount of resampling or model complexity manufactures signal that isn't in the data.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3291840"/>
            <a:ext cx="365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2918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the dataset's heavy 88/12 imbalance, these results sit in line with public benchmarks on this same dataset.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4160520"/>
            <a:ext cx="365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63040" y="416052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ConversionRate and ClickThroughRate carry some leakage risk as near-deterministic proxies for the target and should be handled more conservatively in future iterations.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5029200"/>
            <a:ext cx="365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502920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is synthetic — generalization to a live campaign dataset is unproven.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Recommendation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observed behavior over demographic or channel segmentation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0881360" cy="1828800"/>
          </a:xfrm>
          <a:prstGeom prst="roundRect">
            <a:avLst>
              <a:gd name="adj" fmla="val 5000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194560"/>
            <a:ext cx="10149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engagement signals — click-through rate, time on site, email interaction, and prior purchase history — are far more predictive of conversion than demographics or campaign channel.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40233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45720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XGBoost / LightGBM with proper hyperparameter search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51206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SHAP-based feature attribution for stakeholder-facing explanations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56692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Cost-sensitive thresholding tied to real marketing spend per customer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2026-07-15T07:24:25Z</dcterms:created>
  <dcterms:modified xsi:type="dcterms:W3CDTF">2026-07-15T07:24:25Z</dcterms:modified>
</cp:coreProperties>
</file>